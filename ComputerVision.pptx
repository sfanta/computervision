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99D1D-0A82-B364-D870-882352BB8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A0A729-A8B6-1A90-ABAE-5BD75D770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A8E6B-AD0D-F957-B3F0-2F389758F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CB26-CCB0-A449-9B6B-8A2AADE6F666}" type="datetimeFigureOut">
              <a:rPr lang="en-IT" smtClean="0"/>
              <a:t>07/09/2026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18A46-8537-C70C-6DA0-A807F64B5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3140C-C6EA-6F37-9C5B-10D4E8EC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770A-F0B7-1746-908D-8D635CE97A1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9165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44F20-01CE-52CE-2E39-7C5268B69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62DF8-6408-32CC-6E33-306DA4278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0849F-7D94-408E-DEF2-2AE723B32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CB26-CCB0-A449-9B6B-8A2AADE6F666}" type="datetimeFigureOut">
              <a:rPr lang="en-IT" smtClean="0"/>
              <a:t>07/09/2026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96B24-F211-8B57-CEE6-596CFC51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FE89-72AE-9345-42E8-D1CA3AB0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770A-F0B7-1746-908D-8D635CE97A1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3364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4005F-C522-B328-B3B5-3666D6FA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E7492-8F42-527A-7F96-1CAA5AFB4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1C0F1-809D-DD13-3C53-942FCE9A2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CB26-CCB0-A449-9B6B-8A2AADE6F666}" type="datetimeFigureOut">
              <a:rPr lang="en-IT" smtClean="0"/>
              <a:t>07/09/2026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86D3F-06EC-929D-5467-A48F70281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D0D04-EC30-1A06-10F1-429435A1C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770A-F0B7-1746-908D-8D635CE97A1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44955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A285-58D6-27F5-D3AF-773749B01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ED100-5E24-FD24-720B-6653BDDEF3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DB90D-FDFD-2A9A-BD32-DA0539E3D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0EEE2-FA14-9BA6-ADC5-2B09EA93A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CB26-CCB0-A449-9B6B-8A2AADE6F666}" type="datetimeFigureOut">
              <a:rPr lang="en-IT" smtClean="0"/>
              <a:t>07/09/2026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2B9A9-055C-4550-2173-D4342B031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F549D-EA12-668D-1BA9-FC335A108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770A-F0B7-1746-908D-8D635CE97A1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947615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EF4B-533F-D600-08E2-9A523A67D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E5999-A8C5-5F45-9532-21CA50493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2D52A-1DD7-615A-C217-4A3119A3C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A62F79-3C8B-80A5-7343-F33699F75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011FA-414B-6DDC-021D-0811EC293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9E1B5-160B-1038-C290-E6A14CAD4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CB26-CCB0-A449-9B6B-8A2AADE6F666}" type="datetimeFigureOut">
              <a:rPr lang="en-IT" smtClean="0"/>
              <a:t>07/09/2026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520578-2FAC-91FB-2678-A9F2806D1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034A3A-F5AF-B01B-0D62-DFC2AA065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770A-F0B7-1746-908D-8D635CE97A1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1164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19B4-EE26-B87F-7CBC-10BD8EB11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8EC50E-A3A8-A86C-EDFA-3F5BCE54C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CB26-CCB0-A449-9B6B-8A2AADE6F666}" type="datetimeFigureOut">
              <a:rPr lang="en-IT" smtClean="0"/>
              <a:t>07/09/2026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25C7A-5233-AD99-1438-BE694398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FCBC7-DDEE-CC43-D3F5-CD791C35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770A-F0B7-1746-908D-8D635CE97A1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10207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0A517A-37BB-1C5E-F48F-5B063B374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CB26-CCB0-A449-9B6B-8A2AADE6F666}" type="datetimeFigureOut">
              <a:rPr lang="en-IT" smtClean="0"/>
              <a:t>07/09/2026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37DA41-3296-56C9-5555-FF287302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56CF5-A470-89C5-2D63-2890AF764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770A-F0B7-1746-908D-8D635CE97A1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103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AE8BD-1360-287E-DBEA-6CE1FD007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C0907-8B03-FD40-241C-34FD03CED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F2AA6-ABF7-5709-050F-A13960940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1B045-E121-EF1F-623E-BB3A91635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CB26-CCB0-A449-9B6B-8A2AADE6F666}" type="datetimeFigureOut">
              <a:rPr lang="en-IT" smtClean="0"/>
              <a:t>07/09/2026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54F34-D9A9-8304-2585-ACFCEB41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2E312-FF20-68C9-0868-4E315A37E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770A-F0B7-1746-908D-8D635CE97A1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35895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0780-96BE-3576-1CDE-F2B62C69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9B8E4B-873D-DAF0-7D70-F3E6EDF049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A8EF2-698D-F3C4-ABE9-5E2ACBD96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75B93-B35E-9A44-AA2E-7E4EF8253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CB26-CCB0-A449-9B6B-8A2AADE6F666}" type="datetimeFigureOut">
              <a:rPr lang="en-IT" smtClean="0"/>
              <a:t>07/09/2026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2EB80-E3B7-3B2D-AA28-C02C66158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975F6-33F4-FEF7-AD19-BF8416FC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770A-F0B7-1746-908D-8D635CE97A1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44128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760C-EFBE-0BC5-C1FA-932B32EF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9D9EB-D441-4A1A-6202-6908BC435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418A1-A7BC-5AA0-8DF7-33199D6E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CB26-CCB0-A449-9B6B-8A2AADE6F666}" type="datetimeFigureOut">
              <a:rPr lang="en-IT" smtClean="0"/>
              <a:t>07/09/2026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6DD1B-50A7-B90F-4B6E-835575BC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112F4-8E3E-2914-D026-ADE9690A4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770A-F0B7-1746-908D-8D635CE97A1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79589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C37F3F-239E-F51D-33C1-E0A7DDE2C9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7AE07-3A47-B201-D7C8-36BF01E08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9DCFA-1BDF-6B63-93AB-491CB672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CB26-CCB0-A449-9B6B-8A2AADE6F666}" type="datetimeFigureOut">
              <a:rPr lang="en-IT" smtClean="0"/>
              <a:t>07/09/2026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780C2-88AC-C663-6DAC-48F1D67D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93D7F-D391-9C2C-B38D-A6AD26637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770A-F0B7-1746-908D-8D635CE97A1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39881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CD4A3-57E6-180D-7656-44454EBDC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BF259-7E0D-BC5E-E42A-8B5ED5E95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9CBAB-3B0F-572D-F39B-FE217AA9F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DCB26-CCB0-A449-9B6B-8A2AADE6F666}" type="datetimeFigureOut">
              <a:rPr lang="en-IT" smtClean="0"/>
              <a:t>07/09/2026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30D2F-1C19-3B21-3CC0-DDB9AF97A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14FE2-19C8-4344-E30A-FC51CDCDF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9770A-F0B7-1746-908D-8D635CE97A1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9357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A06F-FD74-E3FE-8403-FECC5E954E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Project 9: Content-Sensitivity-Aware</a:t>
            </a:r>
            <a:br>
              <a:rPr lang="en-GB" dirty="0"/>
            </a:br>
            <a:r>
              <a:rPr lang="en-GB" dirty="0"/>
              <a:t>Deepfake Detection</a:t>
            </a:r>
            <a:endParaRPr lang="en-I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BCA8E-F668-DE16-E6E0-9012C52896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T" dirty="0"/>
              <a:t>Andrea Liviero – Nicolò Locurcio </a:t>
            </a:r>
          </a:p>
          <a:p>
            <a:endParaRPr lang="en-IT" dirty="0"/>
          </a:p>
          <a:p>
            <a:r>
              <a:rPr lang="en-IT" dirty="0"/>
              <a:t>Computer Vision Project Fall 2026</a:t>
            </a:r>
          </a:p>
        </p:txBody>
      </p:sp>
    </p:spTree>
    <p:extLst>
      <p:ext uri="{BB962C8B-B14F-4D97-AF65-F5344CB8AC3E}">
        <p14:creationId xmlns:p14="http://schemas.microsoft.com/office/powerpoint/2010/main" val="927331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B82D0-6190-28B5-5CC4-57E68CD8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Index and preliminary informations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DF392-1BF7-F3ED-C65E-5EA255AEB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T" dirty="0"/>
              <a:t>We’ll speak about:</a:t>
            </a:r>
          </a:p>
          <a:p>
            <a:r>
              <a:rPr lang="en-GB" dirty="0"/>
              <a:t>Sensitivity Scale</a:t>
            </a:r>
          </a:p>
          <a:p>
            <a:r>
              <a:rPr lang="en-GB" dirty="0"/>
              <a:t>Procurement of images and labelling</a:t>
            </a:r>
          </a:p>
          <a:p>
            <a:r>
              <a:rPr lang="en-GB" dirty="0"/>
              <a:t>The classification model</a:t>
            </a:r>
          </a:p>
          <a:p>
            <a:r>
              <a:rPr lang="en-GB" dirty="0"/>
              <a:t>Results and conclusion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Each Level has 100 images, 50 </a:t>
            </a:r>
            <a:r>
              <a:rPr lang="en-GB" b="1" dirty="0">
                <a:solidFill>
                  <a:schemeClr val="accent3"/>
                </a:solidFill>
              </a:rPr>
              <a:t>Real</a:t>
            </a:r>
            <a:r>
              <a:rPr lang="en-GB" dirty="0"/>
              <a:t> / 50 </a:t>
            </a:r>
            <a:r>
              <a:rPr lang="en-GB" b="1" dirty="0">
                <a:solidFill>
                  <a:srgbClr val="FF0000"/>
                </a:solidFill>
              </a:rPr>
              <a:t>Fake</a:t>
            </a:r>
          </a:p>
          <a:p>
            <a:pPr marL="0" indent="0">
              <a:buNone/>
            </a:pPr>
            <a:r>
              <a:rPr lang="en-GB" dirty="0"/>
              <a:t>Satire was also took in consideration but later dropped</a:t>
            </a:r>
          </a:p>
        </p:txBody>
      </p:sp>
    </p:spTree>
    <p:extLst>
      <p:ext uri="{BB962C8B-B14F-4D97-AF65-F5344CB8AC3E}">
        <p14:creationId xmlns:p14="http://schemas.microsoft.com/office/powerpoint/2010/main" val="4247218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4371E-85B0-6B92-4060-C3637665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Level L0: Abstract images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25117-FA2A-AAC3-4C97-5DD1090B2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T" sz="2000" dirty="0"/>
              <a:t>Abstract images, procedural and creative art</a:t>
            </a:r>
          </a:p>
          <a:p>
            <a:pPr marL="0" indent="0">
              <a:buNone/>
            </a:pPr>
            <a:endParaRPr lang="en-IT" sz="2000" dirty="0"/>
          </a:p>
          <a:p>
            <a:pPr marL="0" indent="0">
              <a:buNone/>
            </a:pPr>
            <a:r>
              <a:rPr lang="en-GB" sz="2000" dirty="0">
                <a:solidFill>
                  <a:schemeClr val="accent3"/>
                </a:solidFill>
              </a:rPr>
              <a:t>E</a:t>
            </a:r>
            <a:r>
              <a:rPr lang="en-IT" sz="2000" dirty="0">
                <a:solidFill>
                  <a:schemeClr val="accent3"/>
                </a:solidFill>
              </a:rPr>
              <a:t>xtremely low</a:t>
            </a:r>
          </a:p>
          <a:p>
            <a:pPr marL="0" indent="0">
              <a:buNone/>
            </a:pPr>
            <a:r>
              <a:rPr lang="en-GB" sz="2000" dirty="0"/>
              <a:t>I</a:t>
            </a:r>
            <a:r>
              <a:rPr lang="en-IT" sz="2000" dirty="0"/>
              <a:t>mpact / easy to spot</a:t>
            </a:r>
          </a:p>
          <a:p>
            <a:pPr marL="0" indent="0">
              <a:buNone/>
            </a:pPr>
            <a:endParaRPr lang="en-IT" sz="2000" dirty="0"/>
          </a:p>
          <a:p>
            <a:pPr marL="0" indent="0">
              <a:buNone/>
            </a:pPr>
            <a:r>
              <a:rPr lang="en-IT" sz="2000" dirty="0"/>
              <a:t>Only real danger is from art counterfeit,</a:t>
            </a:r>
          </a:p>
          <a:p>
            <a:pPr marL="0" indent="0">
              <a:buNone/>
            </a:pPr>
            <a:r>
              <a:rPr lang="en-IT" sz="2000" dirty="0"/>
              <a:t>although</a:t>
            </a:r>
            <a:r>
              <a:rPr lang="en-GB" sz="2000" dirty="0"/>
              <a:t>art experts can discern real piece </a:t>
            </a:r>
          </a:p>
          <a:p>
            <a:pPr marL="0" indent="0">
              <a:buNone/>
            </a:pPr>
            <a:r>
              <a:rPr lang="en-GB" sz="2000" dirty="0"/>
              <a:t>from fake and fakes have been around </a:t>
            </a:r>
          </a:p>
          <a:p>
            <a:pPr marL="0" indent="0">
              <a:buNone/>
            </a:pPr>
            <a:r>
              <a:rPr lang="en-GB" sz="2000" dirty="0"/>
              <a:t>since the start of the commercialisation of it</a:t>
            </a:r>
          </a:p>
          <a:p>
            <a:pPr marL="0" indent="0">
              <a:buNone/>
            </a:pPr>
            <a:r>
              <a:rPr lang="en-GB" sz="2000" b="1" dirty="0">
                <a:solidFill>
                  <a:schemeClr val="accent3"/>
                </a:solidFill>
              </a:rPr>
              <a:t>Real</a:t>
            </a:r>
            <a:r>
              <a:rPr lang="en-GB" sz="2000" dirty="0"/>
              <a:t>: </a:t>
            </a:r>
            <a:r>
              <a:rPr lang="en-GB" sz="2000" dirty="0" err="1"/>
              <a:t>Unsplash</a:t>
            </a:r>
            <a:r>
              <a:rPr lang="en-GB" sz="2000" dirty="0"/>
              <a:t> API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FF0000"/>
                </a:solidFill>
              </a:rPr>
              <a:t>Fake</a:t>
            </a:r>
            <a:r>
              <a:rPr lang="en-GB" sz="2000" dirty="0"/>
              <a:t>: Bing Image Generator / Stable Diffusion</a:t>
            </a:r>
            <a:endParaRPr lang="en-IT" sz="2000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F43C443-DB4C-1164-F89E-1EE2B18A0FF5}"/>
              </a:ext>
            </a:extLst>
          </p:cNvPr>
          <p:cNvSpPr/>
          <p:nvPr/>
        </p:nvSpPr>
        <p:spPr>
          <a:xfrm rot="5400000">
            <a:off x="3625328" y="2361603"/>
            <a:ext cx="1276574" cy="1151068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>
              <a:highlight>
                <a:srgbClr val="00FF0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F67F39-762D-20F1-D601-E257179960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50074" y="583005"/>
            <a:ext cx="4141926" cy="5181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19C551-8C72-2ACB-F37E-0C5B4EA93225}"/>
              </a:ext>
            </a:extLst>
          </p:cNvPr>
          <p:cNvSpPr txBox="1"/>
          <p:nvPr/>
        </p:nvSpPr>
        <p:spPr>
          <a:xfrm>
            <a:off x="9404590" y="5807631"/>
            <a:ext cx="14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T</a:t>
            </a:r>
            <a:r>
              <a:rPr lang="en-IT" i="1" dirty="0"/>
              <a:t>rue or fake?</a:t>
            </a:r>
          </a:p>
        </p:txBody>
      </p:sp>
    </p:spTree>
    <p:extLst>
      <p:ext uri="{BB962C8B-B14F-4D97-AF65-F5344CB8AC3E}">
        <p14:creationId xmlns:p14="http://schemas.microsoft.com/office/powerpoint/2010/main" val="2928176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0AF46-88DC-A847-15D7-5BDACFC6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53799-9810-453E-EE94-ACD44805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Level L1: Everyday images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E1DD-3B8D-A7FC-E850-E5D7EAA10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T" sz="2000" dirty="0"/>
              <a:t>Images about everyday scenes and people</a:t>
            </a:r>
          </a:p>
          <a:p>
            <a:pPr marL="0" indent="0">
              <a:buNone/>
            </a:pPr>
            <a:endParaRPr lang="en-IT" sz="2000" dirty="0"/>
          </a:p>
          <a:p>
            <a:pPr marL="0" indent="0">
              <a:buNone/>
            </a:pPr>
            <a:r>
              <a:rPr lang="en-IT" sz="2000" dirty="0">
                <a:solidFill>
                  <a:schemeClr val="accent3"/>
                </a:solidFill>
              </a:rPr>
              <a:t>Low </a:t>
            </a:r>
            <a:r>
              <a:rPr lang="en-GB" sz="2000" dirty="0"/>
              <a:t>I</a:t>
            </a:r>
            <a:r>
              <a:rPr lang="en-IT" sz="2000" dirty="0"/>
              <a:t>mpact /</a:t>
            </a:r>
            <a:r>
              <a:rPr lang="en-GB" sz="2000" dirty="0"/>
              <a:t>D</a:t>
            </a:r>
            <a:r>
              <a:rPr lang="en-IT" sz="2000" dirty="0"/>
              <a:t>anger </a:t>
            </a:r>
          </a:p>
          <a:p>
            <a:pPr marL="0" indent="0">
              <a:buNone/>
            </a:pPr>
            <a:r>
              <a:rPr lang="en-IT" sz="2000" dirty="0"/>
              <a:t>of political manipulation</a:t>
            </a:r>
          </a:p>
          <a:p>
            <a:pPr marL="0" indent="0">
              <a:buNone/>
            </a:pPr>
            <a:endParaRPr lang="en-IT" sz="2000" dirty="0"/>
          </a:p>
          <a:p>
            <a:pPr marL="0" indent="0">
              <a:buNone/>
            </a:pPr>
            <a:r>
              <a:rPr lang="it-IT" sz="2000" dirty="0"/>
              <a:t>Images from </a:t>
            </a:r>
            <a:r>
              <a:rPr lang="it-IT" sz="2000" dirty="0" err="1"/>
              <a:t>everyday</a:t>
            </a:r>
            <a:r>
              <a:rPr lang="it-IT" sz="2000" dirty="0"/>
              <a:t> life </a:t>
            </a:r>
            <a:r>
              <a:rPr lang="it-IT" sz="2000" dirty="0" err="1"/>
              <a:t>may</a:t>
            </a:r>
            <a:r>
              <a:rPr lang="it-IT" sz="2000" dirty="0"/>
              <a:t> be </a:t>
            </a:r>
            <a:r>
              <a:rPr lang="it-IT" sz="2000" dirty="0" err="1"/>
              <a:t>innocent</a:t>
            </a:r>
            <a:r>
              <a:rPr lang="it-IT" sz="2000" dirty="0"/>
              <a:t>, and </a:t>
            </a:r>
            <a:r>
              <a:rPr lang="it-IT" sz="2000" dirty="0" err="1"/>
              <a:t>already</a:t>
            </a:r>
            <a:r>
              <a:rPr lang="it-IT" sz="2000" dirty="0"/>
              <a:t> </a:t>
            </a:r>
            <a:r>
              <a:rPr lang="it-IT" sz="2000" dirty="0" err="1"/>
              <a:t>before</a:t>
            </a:r>
            <a:r>
              <a:rPr lang="it-IT" sz="2000" dirty="0"/>
              <a:t> AI</a:t>
            </a:r>
          </a:p>
          <a:p>
            <a:pPr marL="0" indent="0">
              <a:buNone/>
            </a:pPr>
            <a:r>
              <a:rPr lang="it-IT" sz="2000" dirty="0"/>
              <a:t>The market </a:t>
            </a:r>
            <a:r>
              <a:rPr lang="it-IT" sz="2000" dirty="0" err="1"/>
              <a:t>was</a:t>
            </a:r>
            <a:r>
              <a:rPr lang="it-IT" sz="2000" dirty="0"/>
              <a:t> full of «stock» picture </a:t>
            </a:r>
            <a:r>
              <a:rPr lang="it-IT" sz="2000" dirty="0" err="1"/>
              <a:t>used</a:t>
            </a:r>
            <a:r>
              <a:rPr lang="it-IT" sz="2000" dirty="0"/>
              <a:t> in </a:t>
            </a:r>
            <a:r>
              <a:rPr lang="it-IT" sz="2000" dirty="0" err="1"/>
              <a:t>several</a:t>
            </a:r>
            <a:r>
              <a:rPr lang="it-IT" sz="2000" dirty="0"/>
              <a:t> </a:t>
            </a:r>
            <a:r>
              <a:rPr lang="it-IT" sz="2000" dirty="0" err="1"/>
              <a:t>application</a:t>
            </a:r>
            <a:endParaRPr lang="it-IT" sz="2000" dirty="0"/>
          </a:p>
          <a:p>
            <a:pPr marL="0" indent="0">
              <a:buNone/>
            </a:pPr>
            <a:r>
              <a:rPr lang="it-IT" sz="2000" dirty="0"/>
              <a:t>The </a:t>
            </a:r>
            <a:r>
              <a:rPr lang="it-IT" sz="2000" dirty="0" err="1"/>
              <a:t>danger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from limited </a:t>
            </a:r>
            <a:r>
              <a:rPr lang="it-IT" sz="2000" dirty="0" err="1"/>
              <a:t>political</a:t>
            </a:r>
            <a:r>
              <a:rPr lang="it-IT" sz="2000" dirty="0"/>
              <a:t> </a:t>
            </a:r>
            <a:r>
              <a:rPr lang="it-IT" sz="2000" dirty="0" err="1"/>
              <a:t>manipulation</a:t>
            </a:r>
            <a:endParaRPr lang="en-GB" sz="2000" dirty="0"/>
          </a:p>
          <a:p>
            <a:pPr marL="0" indent="0">
              <a:buNone/>
            </a:pPr>
            <a:r>
              <a:rPr lang="en-GB" sz="2000" b="1" dirty="0">
                <a:solidFill>
                  <a:schemeClr val="accent3"/>
                </a:solidFill>
              </a:rPr>
              <a:t>Real</a:t>
            </a:r>
            <a:r>
              <a:rPr lang="en-GB" sz="2000" dirty="0"/>
              <a:t>: COCO database and FFHQ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FF0000"/>
                </a:solidFill>
              </a:rPr>
              <a:t>Fake</a:t>
            </a:r>
            <a:r>
              <a:rPr lang="en-GB" sz="2000" dirty="0"/>
              <a:t>: </a:t>
            </a:r>
            <a:r>
              <a:rPr lang="en-GB" sz="2000" dirty="0" err="1"/>
              <a:t>thispersondoesnotexist.com</a:t>
            </a:r>
            <a:r>
              <a:rPr lang="en-GB" sz="2000" dirty="0"/>
              <a:t> / StyleGAN2</a:t>
            </a:r>
            <a:endParaRPr lang="en-IT" sz="2000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1F610EDB-C443-E9E9-6B1B-92E4867E7446}"/>
              </a:ext>
            </a:extLst>
          </p:cNvPr>
          <p:cNvSpPr/>
          <p:nvPr/>
        </p:nvSpPr>
        <p:spPr>
          <a:xfrm rot="5400000">
            <a:off x="3625328" y="2361603"/>
            <a:ext cx="1276574" cy="1151068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134BCB-E977-2EF4-490D-9E861CBDE1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52993" y="583005"/>
            <a:ext cx="4136088" cy="5181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BD4C27-F52C-3322-CDE2-C8E5BE94D0BC}"/>
              </a:ext>
            </a:extLst>
          </p:cNvPr>
          <p:cNvSpPr/>
          <p:nvPr/>
        </p:nvSpPr>
        <p:spPr>
          <a:xfrm>
            <a:off x="9993854" y="4690334"/>
            <a:ext cx="1538344" cy="9681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58EAB7-F72C-6545-EE4B-F30219D11BAC}"/>
              </a:ext>
            </a:extLst>
          </p:cNvPr>
          <p:cNvSpPr txBox="1"/>
          <p:nvPr/>
        </p:nvSpPr>
        <p:spPr>
          <a:xfrm>
            <a:off x="8367159" y="5798017"/>
            <a:ext cx="3490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i="1" dirty="0"/>
              <a:t>E</a:t>
            </a:r>
            <a:r>
              <a:rPr lang="en-IT" i="1" dirty="0"/>
              <a:t>xample of political manipulation</a:t>
            </a:r>
          </a:p>
          <a:p>
            <a:pPr algn="ctr"/>
            <a:r>
              <a:rPr lang="en-GB" i="1" dirty="0"/>
              <a:t>c</a:t>
            </a:r>
            <a:r>
              <a:rPr lang="en-IT" i="1" dirty="0"/>
              <a:t>ensored for par condicio</a:t>
            </a:r>
          </a:p>
        </p:txBody>
      </p:sp>
    </p:spTree>
    <p:extLst>
      <p:ext uri="{BB962C8B-B14F-4D97-AF65-F5344CB8AC3E}">
        <p14:creationId xmlns:p14="http://schemas.microsoft.com/office/powerpoint/2010/main" val="3044363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05D2B-F62A-9825-B895-E4ABA7B39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ED07C-554E-2DC8-0AA5-C889A037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Level L2: Commercial images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86BF8-53DB-8726-C6F3-B9EBAC371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T" sz="2000" dirty="0"/>
              <a:t>Images about commercial product and com</a:t>
            </a:r>
            <a:r>
              <a:rPr lang="en-GB" sz="2000" dirty="0"/>
              <a:t>pa</a:t>
            </a:r>
            <a:r>
              <a:rPr lang="en-IT" sz="2000" dirty="0"/>
              <a:t>nies</a:t>
            </a:r>
          </a:p>
          <a:p>
            <a:pPr marL="0" indent="0">
              <a:buNone/>
            </a:pPr>
            <a:endParaRPr lang="en-IT" sz="2000" dirty="0"/>
          </a:p>
          <a:p>
            <a:pPr marL="0" indent="0">
              <a:buNone/>
            </a:pPr>
            <a:r>
              <a:rPr lang="en-IT" sz="2000" dirty="0">
                <a:solidFill>
                  <a:schemeClr val="accent2"/>
                </a:solidFill>
              </a:rPr>
              <a:t>Medium</a:t>
            </a:r>
            <a:r>
              <a:rPr lang="en-IT" sz="2000" dirty="0">
                <a:solidFill>
                  <a:schemeClr val="accent3"/>
                </a:solidFill>
              </a:rPr>
              <a:t> </a:t>
            </a:r>
            <a:r>
              <a:rPr lang="en-GB" sz="2000" dirty="0"/>
              <a:t>I</a:t>
            </a:r>
            <a:r>
              <a:rPr lang="en-IT" sz="2000" dirty="0"/>
              <a:t>mpact /</a:t>
            </a:r>
            <a:r>
              <a:rPr lang="en-GB" sz="2000" dirty="0"/>
              <a:t>D</a:t>
            </a:r>
            <a:r>
              <a:rPr lang="en-IT" sz="2000" dirty="0"/>
              <a:t>anger </a:t>
            </a:r>
          </a:p>
          <a:p>
            <a:pPr marL="0" indent="0">
              <a:buNone/>
            </a:pPr>
            <a:r>
              <a:rPr lang="en-IT" sz="2000" dirty="0"/>
              <a:t>of scam and falsification</a:t>
            </a:r>
          </a:p>
          <a:p>
            <a:pPr marL="0" indent="0">
              <a:buNone/>
            </a:pPr>
            <a:endParaRPr lang="en-IT" sz="2000" dirty="0"/>
          </a:p>
          <a:p>
            <a:pPr marL="0" indent="0">
              <a:buNone/>
            </a:pPr>
            <a:r>
              <a:rPr lang="it-IT" sz="2000" dirty="0"/>
              <a:t>Images from product, companies, and </a:t>
            </a:r>
            <a:r>
              <a:rPr lang="it-IT" sz="2000" dirty="0" err="1"/>
              <a:t>objects</a:t>
            </a:r>
            <a:r>
              <a:rPr lang="it-IT" sz="2000" dirty="0"/>
              <a:t> </a:t>
            </a:r>
            <a:r>
              <a:rPr lang="it-IT" sz="2000" dirty="0" err="1"/>
              <a:t>which</a:t>
            </a:r>
            <a:r>
              <a:rPr lang="it-IT" sz="2000" dirty="0"/>
              <a:t> do </a:t>
            </a:r>
            <a:r>
              <a:rPr lang="it-IT" sz="2000" dirty="0" err="1"/>
              <a:t>not</a:t>
            </a:r>
            <a:r>
              <a:rPr lang="it-IT" sz="2000" dirty="0"/>
              <a:t> </a:t>
            </a:r>
            <a:r>
              <a:rPr lang="it-IT" sz="2000" dirty="0" err="1"/>
              <a:t>exist</a:t>
            </a:r>
            <a:endParaRPr lang="it-IT" sz="2000" dirty="0"/>
          </a:p>
          <a:p>
            <a:pPr marL="0" indent="0">
              <a:buNone/>
            </a:pPr>
            <a:r>
              <a:rPr lang="it-IT" sz="2000" dirty="0"/>
              <a:t>or </a:t>
            </a:r>
            <a:r>
              <a:rPr lang="it-IT" sz="2000" dirty="0" err="1"/>
              <a:t>have</a:t>
            </a:r>
            <a:r>
              <a:rPr lang="it-IT" sz="2000" dirty="0"/>
              <a:t> </a:t>
            </a:r>
            <a:r>
              <a:rPr lang="it-IT" sz="2000" dirty="0" err="1"/>
              <a:t>their</a:t>
            </a:r>
            <a:r>
              <a:rPr lang="it-IT" sz="2000" dirty="0"/>
              <a:t> </a:t>
            </a:r>
            <a:r>
              <a:rPr lang="it-IT" sz="2000" dirty="0" err="1"/>
              <a:t>characteristics</a:t>
            </a:r>
            <a:r>
              <a:rPr lang="it-IT" sz="2000" dirty="0"/>
              <a:t> </a:t>
            </a:r>
            <a:r>
              <a:rPr lang="it-IT" sz="2000" dirty="0" err="1"/>
              <a:t>changed</a:t>
            </a:r>
            <a:r>
              <a:rPr lang="it-IT" sz="2000" dirty="0"/>
              <a:t> and </a:t>
            </a:r>
            <a:r>
              <a:rPr lang="it-IT" sz="2000" dirty="0" err="1"/>
              <a:t>altered</a:t>
            </a:r>
            <a:r>
              <a:rPr lang="it-IT" sz="2000" dirty="0"/>
              <a:t>. </a:t>
            </a:r>
            <a:r>
              <a:rPr lang="it-IT" sz="2000" dirty="0" err="1"/>
              <a:t>Damage</a:t>
            </a:r>
            <a:r>
              <a:rPr lang="it-IT" sz="2000" dirty="0"/>
              <a:t> of </a:t>
            </a:r>
          </a:p>
          <a:p>
            <a:pPr marL="0" indent="0">
              <a:buNone/>
            </a:pPr>
            <a:r>
              <a:rPr lang="it-IT" sz="2000" dirty="0"/>
              <a:t>Image to companies and </a:t>
            </a:r>
            <a:r>
              <a:rPr lang="it-IT" sz="2000" dirty="0" err="1"/>
              <a:t>unlawful</a:t>
            </a:r>
            <a:r>
              <a:rPr lang="it-IT" sz="2000" dirty="0"/>
              <a:t> (Art. 473)  </a:t>
            </a:r>
            <a:endParaRPr lang="en-GB" sz="2000" dirty="0"/>
          </a:p>
          <a:p>
            <a:pPr marL="0" indent="0">
              <a:buNone/>
            </a:pPr>
            <a:r>
              <a:rPr lang="en-GB" sz="2000" b="1" dirty="0">
                <a:solidFill>
                  <a:schemeClr val="accent3"/>
                </a:solidFill>
              </a:rPr>
              <a:t>Real</a:t>
            </a:r>
            <a:r>
              <a:rPr lang="en-GB" sz="2000" dirty="0"/>
              <a:t>: Amazon Berkley Database (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FF0000"/>
                </a:solidFill>
              </a:rPr>
              <a:t>Fake</a:t>
            </a:r>
            <a:r>
              <a:rPr lang="en-GB" sz="2000" dirty="0"/>
              <a:t>: Stable Diffusion on Amazon Database / </a:t>
            </a:r>
            <a:r>
              <a:rPr lang="en-GB" sz="2000" dirty="0" err="1"/>
              <a:t>Aliexpress</a:t>
            </a:r>
            <a:r>
              <a:rPr lang="en-GB" sz="2000" dirty="0"/>
              <a:t> scraping</a:t>
            </a:r>
            <a:endParaRPr lang="en-IT" sz="2000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6C3E6CE0-2F45-7467-7C51-089A705DB296}"/>
              </a:ext>
            </a:extLst>
          </p:cNvPr>
          <p:cNvSpPr/>
          <p:nvPr/>
        </p:nvSpPr>
        <p:spPr>
          <a:xfrm rot="5400000">
            <a:off x="4378363" y="2383118"/>
            <a:ext cx="1276574" cy="115106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8B28A-2348-D1D3-6D66-34C0E52FC2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52993" y="1160665"/>
            <a:ext cx="4136088" cy="40262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CE801F-C1FE-727E-6FB8-E4454782B614}"/>
              </a:ext>
            </a:extLst>
          </p:cNvPr>
          <p:cNvSpPr txBox="1"/>
          <p:nvPr/>
        </p:nvSpPr>
        <p:spPr>
          <a:xfrm>
            <a:off x="8896807" y="5358788"/>
            <a:ext cx="2874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i="1" dirty="0"/>
              <a:t>Seems like an Apple watch </a:t>
            </a:r>
          </a:p>
          <a:p>
            <a:pPr algn="ctr"/>
            <a:r>
              <a:rPr lang="en-GB" i="1" dirty="0"/>
              <a:t>but costs 1/10…</a:t>
            </a:r>
            <a:endParaRPr lang="en-IT" i="1" dirty="0"/>
          </a:p>
        </p:txBody>
      </p:sp>
    </p:spTree>
    <p:extLst>
      <p:ext uri="{BB962C8B-B14F-4D97-AF65-F5344CB8AC3E}">
        <p14:creationId xmlns:p14="http://schemas.microsoft.com/office/powerpoint/2010/main" val="875198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DF092-906D-FA07-0BF1-D500B759A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7B4F-666E-A61A-AF17-9EC0D152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Level L3: National, Internal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A823E-347A-36B1-7284-DC553C7D5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T" sz="2000" dirty="0"/>
              <a:t>Images </a:t>
            </a:r>
            <a:r>
              <a:rPr lang="it-IT" sz="2000" dirty="0" err="1"/>
              <a:t>which</a:t>
            </a:r>
            <a:r>
              <a:rPr lang="it-IT" sz="2000" dirty="0"/>
              <a:t> can cause national </a:t>
            </a:r>
            <a:r>
              <a:rPr lang="it-IT" sz="2000" dirty="0" err="1"/>
              <a:t>unrest</a:t>
            </a:r>
            <a:r>
              <a:rPr lang="it-IT" sz="2000" dirty="0"/>
              <a:t> and security risks</a:t>
            </a:r>
            <a:endParaRPr lang="en-IT" sz="2000" dirty="0"/>
          </a:p>
          <a:p>
            <a:pPr marL="0" indent="0">
              <a:buNone/>
            </a:pPr>
            <a:endParaRPr lang="en-IT" sz="2000" dirty="0"/>
          </a:p>
          <a:p>
            <a:pPr marL="0" indent="0">
              <a:buNone/>
            </a:pPr>
            <a:r>
              <a:rPr lang="en-IT" sz="2000" dirty="0">
                <a:solidFill>
                  <a:srgbClr val="FF0000"/>
                </a:solidFill>
              </a:rPr>
              <a:t>High</a:t>
            </a:r>
            <a:r>
              <a:rPr lang="en-IT" sz="2000" dirty="0">
                <a:solidFill>
                  <a:schemeClr val="accent3"/>
                </a:solidFill>
              </a:rPr>
              <a:t> </a:t>
            </a:r>
            <a:r>
              <a:rPr lang="en-GB" sz="2000" dirty="0"/>
              <a:t>I</a:t>
            </a:r>
            <a:r>
              <a:rPr lang="en-IT" sz="2000" dirty="0"/>
              <a:t>mpact /</a:t>
            </a:r>
            <a:r>
              <a:rPr lang="en-GB" sz="2000" dirty="0"/>
              <a:t>D</a:t>
            </a:r>
            <a:r>
              <a:rPr lang="en-IT" sz="2000" dirty="0"/>
              <a:t>anger </a:t>
            </a:r>
          </a:p>
          <a:p>
            <a:pPr marL="0" indent="0">
              <a:buNone/>
            </a:pPr>
            <a:r>
              <a:rPr lang="en-IT" sz="2000" dirty="0"/>
              <a:t>of national unrest and reaction</a:t>
            </a:r>
          </a:p>
          <a:p>
            <a:pPr marL="0" indent="0">
              <a:buNone/>
            </a:pPr>
            <a:endParaRPr lang="en-IT" sz="2000" dirty="0"/>
          </a:p>
          <a:p>
            <a:pPr marL="0" indent="0">
              <a:buNone/>
            </a:pPr>
            <a:r>
              <a:rPr lang="it-IT" sz="2000" dirty="0"/>
              <a:t>Images (and </a:t>
            </a:r>
            <a:r>
              <a:rPr lang="it-IT" sz="2000" dirty="0" err="1"/>
              <a:t>videos</a:t>
            </a:r>
            <a:r>
              <a:rPr lang="it-IT" sz="2000" dirty="0"/>
              <a:t>) of </a:t>
            </a:r>
            <a:r>
              <a:rPr lang="it-IT" sz="2000" dirty="0" err="1"/>
              <a:t>prominent</a:t>
            </a:r>
            <a:r>
              <a:rPr lang="it-IT" sz="2000" dirty="0"/>
              <a:t> </a:t>
            </a:r>
            <a:r>
              <a:rPr lang="it-IT" sz="2000" dirty="0" err="1"/>
              <a:t>figures</a:t>
            </a:r>
            <a:r>
              <a:rPr lang="it-IT" sz="2000" dirty="0"/>
              <a:t> or event </a:t>
            </a:r>
            <a:r>
              <a:rPr lang="it-IT" sz="2000" dirty="0" err="1"/>
              <a:t>that</a:t>
            </a:r>
            <a:r>
              <a:rPr lang="it-IT" sz="2000" dirty="0"/>
              <a:t> can</a:t>
            </a:r>
          </a:p>
          <a:p>
            <a:pPr marL="0" indent="0">
              <a:buNone/>
            </a:pPr>
            <a:r>
              <a:rPr lang="it-IT" sz="2000" dirty="0"/>
              <a:t>create </a:t>
            </a:r>
            <a:r>
              <a:rPr lang="it-IT" sz="2000" dirty="0" err="1"/>
              <a:t>unrest</a:t>
            </a:r>
            <a:r>
              <a:rPr lang="it-IT" sz="2000" dirty="0"/>
              <a:t> and </a:t>
            </a:r>
            <a:r>
              <a:rPr lang="it-IT" sz="2000" dirty="0" err="1"/>
              <a:t>have</a:t>
            </a:r>
            <a:r>
              <a:rPr lang="it-IT" sz="2000" dirty="0"/>
              <a:t> an impact on national security or </a:t>
            </a:r>
          </a:p>
          <a:p>
            <a:pPr marL="0" indent="0">
              <a:buNone/>
            </a:pPr>
            <a:r>
              <a:rPr lang="it-IT" sz="2000" dirty="0" err="1"/>
              <a:t>decisional</a:t>
            </a:r>
            <a:r>
              <a:rPr lang="it-IT" sz="2000" dirty="0"/>
              <a:t> </a:t>
            </a:r>
            <a:r>
              <a:rPr lang="it-IT" sz="2000" dirty="0" err="1"/>
              <a:t>process</a:t>
            </a:r>
            <a:r>
              <a:rPr lang="it-IT" sz="2000" dirty="0"/>
              <a:t>. Those are culture-</a:t>
            </a:r>
            <a:r>
              <a:rPr lang="it-IT" sz="2000" dirty="0" err="1"/>
              <a:t>specific</a:t>
            </a:r>
            <a:r>
              <a:rPr lang="it-IT" sz="2000" dirty="0"/>
              <a:t>-</a:t>
            </a:r>
            <a:r>
              <a:rPr lang="it-IT" sz="2000" dirty="0" err="1"/>
              <a:t>influenced</a:t>
            </a:r>
            <a:r>
              <a:rPr lang="it-IT" sz="2000" dirty="0"/>
              <a:t>,</a:t>
            </a:r>
          </a:p>
          <a:p>
            <a:pPr marL="0" indent="0">
              <a:buNone/>
            </a:pPr>
            <a:r>
              <a:rPr lang="en-GB" sz="2000" dirty="0"/>
              <a:t>therefore harder to regionalize</a:t>
            </a:r>
          </a:p>
          <a:p>
            <a:pPr marL="0" indent="0">
              <a:buNone/>
            </a:pPr>
            <a:r>
              <a:rPr lang="en-GB" sz="2000" b="1" dirty="0">
                <a:solidFill>
                  <a:schemeClr val="accent3"/>
                </a:solidFill>
              </a:rPr>
              <a:t>Real</a:t>
            </a:r>
            <a:r>
              <a:rPr lang="en-GB" sz="2000" dirty="0"/>
              <a:t>: LFW dataset / scraping of news agency (ANSA, AGI)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FF0000"/>
                </a:solidFill>
              </a:rPr>
              <a:t>Fake</a:t>
            </a:r>
            <a:r>
              <a:rPr lang="en-GB" sz="2000" dirty="0"/>
              <a:t>: Celeb DB dataset -&gt; stable diffusion on news agency portrait</a:t>
            </a:r>
            <a:endParaRPr lang="en-IT" sz="2000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BD736BD4-F3B0-063D-979D-5AE2BE5E9D47}"/>
              </a:ext>
            </a:extLst>
          </p:cNvPr>
          <p:cNvSpPr/>
          <p:nvPr/>
        </p:nvSpPr>
        <p:spPr>
          <a:xfrm rot="5400000">
            <a:off x="4378363" y="2383118"/>
            <a:ext cx="1276574" cy="11510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22F8D3-9774-A1F9-562F-A6B3102FA9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54109" y="1332508"/>
            <a:ext cx="4026280" cy="40262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3D7F49-0F7D-7A3F-519B-859179DFAF61}"/>
              </a:ext>
            </a:extLst>
          </p:cNvPr>
          <p:cNvSpPr txBox="1"/>
          <p:nvPr/>
        </p:nvSpPr>
        <p:spPr>
          <a:xfrm>
            <a:off x="9121490" y="5358788"/>
            <a:ext cx="2425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i="1" dirty="0"/>
              <a:t>Only one is the original</a:t>
            </a:r>
          </a:p>
          <a:p>
            <a:pPr algn="ctr"/>
            <a:r>
              <a:rPr lang="en-GB" i="1" dirty="0"/>
              <a:t>Which one?</a:t>
            </a:r>
          </a:p>
        </p:txBody>
      </p:sp>
    </p:spTree>
    <p:extLst>
      <p:ext uri="{BB962C8B-B14F-4D97-AF65-F5344CB8AC3E}">
        <p14:creationId xmlns:p14="http://schemas.microsoft.com/office/powerpoint/2010/main" val="1641490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A7DB7-2D5E-2DB9-2D26-8682778D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DC024-E4A7-F2C4-DD64-94450FFF6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Level L4/L5: International, military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22839-23B1-710E-0E34-1375DC033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503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T" sz="2000" dirty="0"/>
              <a:t>Images </a:t>
            </a:r>
            <a:r>
              <a:rPr lang="it-IT" sz="2000" dirty="0" err="1"/>
              <a:t>which</a:t>
            </a:r>
            <a:r>
              <a:rPr lang="it-IT" sz="2000" dirty="0"/>
              <a:t> can cause International </a:t>
            </a:r>
            <a:r>
              <a:rPr lang="it-IT" sz="2000" dirty="0" err="1"/>
              <a:t>turmoil</a:t>
            </a:r>
            <a:r>
              <a:rPr lang="it-IT" sz="2000" dirty="0"/>
              <a:t> and </a:t>
            </a:r>
            <a:r>
              <a:rPr lang="it-IT" sz="2000" dirty="0" err="1"/>
              <a:t>military</a:t>
            </a:r>
            <a:r>
              <a:rPr lang="it-IT" sz="2000" dirty="0"/>
              <a:t> </a:t>
            </a:r>
            <a:r>
              <a:rPr lang="it-IT" sz="2000" dirty="0" err="1"/>
              <a:t>unrest</a:t>
            </a:r>
            <a:endParaRPr lang="en-IT" sz="2000" dirty="0"/>
          </a:p>
          <a:p>
            <a:pPr marL="0" indent="0">
              <a:buNone/>
            </a:pPr>
            <a:endParaRPr lang="en-IT" sz="2000" dirty="0"/>
          </a:p>
          <a:p>
            <a:pPr marL="0" indent="0">
              <a:buNone/>
            </a:pPr>
            <a:r>
              <a:rPr lang="en-IT" sz="2000" dirty="0">
                <a:solidFill>
                  <a:srgbClr val="C00000"/>
                </a:solidFill>
              </a:rPr>
              <a:t>Extremely High </a:t>
            </a:r>
            <a:r>
              <a:rPr lang="en-GB" sz="2000" dirty="0"/>
              <a:t>I</a:t>
            </a:r>
            <a:r>
              <a:rPr lang="en-IT" sz="2000" dirty="0"/>
              <a:t>mpact /</a:t>
            </a:r>
            <a:r>
              <a:rPr lang="en-GB" sz="2000" dirty="0"/>
              <a:t>D</a:t>
            </a:r>
            <a:r>
              <a:rPr lang="en-IT" sz="2000" dirty="0"/>
              <a:t>anger </a:t>
            </a:r>
          </a:p>
          <a:p>
            <a:pPr marL="0" indent="0">
              <a:buNone/>
            </a:pPr>
            <a:r>
              <a:rPr lang="en-IT" sz="2000" dirty="0"/>
              <a:t>of national unrest and reaction</a:t>
            </a:r>
          </a:p>
          <a:p>
            <a:pPr marL="0" indent="0">
              <a:buNone/>
            </a:pPr>
            <a:endParaRPr lang="en-IT" sz="2000" dirty="0"/>
          </a:p>
          <a:p>
            <a:pPr marL="0" indent="0">
              <a:buNone/>
            </a:pPr>
            <a:r>
              <a:rPr lang="it-IT" sz="2000" dirty="0"/>
              <a:t>Images (and </a:t>
            </a:r>
            <a:r>
              <a:rPr lang="it-IT" sz="2000" dirty="0" err="1"/>
              <a:t>videos</a:t>
            </a:r>
            <a:r>
              <a:rPr lang="it-IT" sz="2000" dirty="0"/>
              <a:t>) </a:t>
            </a:r>
            <a:r>
              <a:rPr lang="it-IT" sz="2000" dirty="0" err="1"/>
              <a:t>which</a:t>
            </a:r>
            <a:r>
              <a:rPr lang="it-IT" sz="2000" dirty="0"/>
              <a:t> </a:t>
            </a:r>
            <a:r>
              <a:rPr lang="it-IT" sz="2000" dirty="0" err="1"/>
              <a:t>try</a:t>
            </a:r>
            <a:r>
              <a:rPr lang="it-IT" sz="2000" dirty="0"/>
              <a:t> to catch on generate reaction from </a:t>
            </a:r>
          </a:p>
          <a:p>
            <a:pPr marL="0" indent="0">
              <a:buNone/>
            </a:pPr>
            <a:r>
              <a:rPr lang="it-IT" sz="2000" dirty="0" err="1"/>
              <a:t>other</a:t>
            </a:r>
            <a:r>
              <a:rPr lang="it-IT" sz="2000" dirty="0"/>
              <a:t> countries, </a:t>
            </a:r>
            <a:r>
              <a:rPr lang="it-IT" sz="2000" dirty="0" err="1"/>
              <a:t>spark</a:t>
            </a:r>
            <a:r>
              <a:rPr lang="it-IT" sz="2000" dirty="0"/>
              <a:t> </a:t>
            </a:r>
            <a:r>
              <a:rPr lang="it-IT" sz="2000" dirty="0" err="1"/>
              <a:t>military</a:t>
            </a:r>
            <a:r>
              <a:rPr lang="it-IT" sz="2000" dirty="0"/>
              <a:t> reactions and </a:t>
            </a:r>
            <a:r>
              <a:rPr lang="it-IT" sz="2000" dirty="0" err="1"/>
              <a:t>exacerbate</a:t>
            </a:r>
            <a:r>
              <a:rPr lang="it-IT" sz="2000" dirty="0"/>
              <a:t> relations</a:t>
            </a:r>
          </a:p>
          <a:p>
            <a:pPr marL="0" indent="0">
              <a:buNone/>
            </a:pPr>
            <a:r>
              <a:rPr lang="it-IT" sz="2000" dirty="0" err="1"/>
              <a:t>Between</a:t>
            </a:r>
            <a:r>
              <a:rPr lang="it-IT" sz="2000" dirty="0"/>
              <a:t> countries. L4 and L5 </a:t>
            </a:r>
            <a:r>
              <a:rPr lang="it-IT" sz="2000" dirty="0" err="1"/>
              <a:t>later</a:t>
            </a:r>
            <a:r>
              <a:rPr lang="it-IT" sz="2000" dirty="0"/>
              <a:t> </a:t>
            </a:r>
            <a:r>
              <a:rPr lang="it-IT" sz="2000" dirty="0" err="1"/>
              <a:t>merged</a:t>
            </a:r>
            <a:r>
              <a:rPr lang="it-IT" sz="2000" dirty="0"/>
              <a:t> for </a:t>
            </a:r>
            <a:r>
              <a:rPr lang="it-IT" sz="2000" dirty="0" err="1"/>
              <a:t>simplicity</a:t>
            </a:r>
            <a:r>
              <a:rPr lang="it-IT" sz="2000" dirty="0"/>
              <a:t>.</a:t>
            </a:r>
            <a:endParaRPr lang="en-GB" sz="2000" dirty="0"/>
          </a:p>
          <a:p>
            <a:pPr marL="0" indent="0">
              <a:buNone/>
            </a:pPr>
            <a:r>
              <a:rPr lang="en-GB" sz="2000" b="1" dirty="0">
                <a:solidFill>
                  <a:schemeClr val="accent3"/>
                </a:solidFill>
              </a:rPr>
              <a:t>Real</a:t>
            </a:r>
            <a:r>
              <a:rPr lang="en-GB" sz="2000" dirty="0"/>
              <a:t>: Wikimedia Commons scarping with </a:t>
            </a:r>
            <a:r>
              <a:rPr lang="en-GB" sz="2000" dirty="0" err="1"/>
              <a:t>keyworld</a:t>
            </a:r>
            <a:endParaRPr lang="en-GB" sz="2000" dirty="0"/>
          </a:p>
          <a:p>
            <a:pPr marL="0" indent="0">
              <a:buNone/>
            </a:pPr>
            <a:r>
              <a:rPr lang="en-GB" sz="2000" b="1" dirty="0">
                <a:solidFill>
                  <a:srgbClr val="FF0000"/>
                </a:solidFill>
              </a:rPr>
              <a:t>Fake</a:t>
            </a:r>
            <a:r>
              <a:rPr lang="en-GB" sz="2000" dirty="0"/>
              <a:t>: </a:t>
            </a:r>
            <a:r>
              <a:rPr lang="en-GB" sz="2000" dirty="0" err="1"/>
              <a:t>OpenFake</a:t>
            </a:r>
            <a:r>
              <a:rPr lang="en-GB" sz="2000" dirty="0"/>
              <a:t> -&gt; stable diffusion on database + Wikimedia</a:t>
            </a:r>
            <a:endParaRPr lang="en-IT" sz="2000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D1C359DC-96C4-DACC-67E4-BE67D2AFE7BB}"/>
              </a:ext>
            </a:extLst>
          </p:cNvPr>
          <p:cNvSpPr/>
          <p:nvPr/>
        </p:nvSpPr>
        <p:spPr>
          <a:xfrm rot="5400000">
            <a:off x="4378363" y="2383118"/>
            <a:ext cx="1276574" cy="1151068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E45A87-D274-1B54-7F9D-96206657C4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54109" y="2366022"/>
            <a:ext cx="4026280" cy="25979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A067B1-CA8D-DF6E-BB91-793AB318F0DD}"/>
              </a:ext>
            </a:extLst>
          </p:cNvPr>
          <p:cNvSpPr txBox="1"/>
          <p:nvPr/>
        </p:nvSpPr>
        <p:spPr>
          <a:xfrm>
            <a:off x="8778149" y="5115557"/>
            <a:ext cx="2811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i="1" dirty="0"/>
              <a:t>President Donald J. Trump </a:t>
            </a:r>
          </a:p>
          <a:p>
            <a:pPr algn="ctr"/>
            <a:r>
              <a:rPr lang="en-GB" i="1" dirty="0"/>
              <a:t>Truth post 7.09.2026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B6AEDB-0D92-C887-DA99-9ADD79933BF9}"/>
              </a:ext>
            </a:extLst>
          </p:cNvPr>
          <p:cNvSpPr/>
          <p:nvPr/>
        </p:nvSpPr>
        <p:spPr>
          <a:xfrm>
            <a:off x="9121490" y="2366022"/>
            <a:ext cx="764788" cy="355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1755D4-29DE-1D81-C5FA-7CDF1CBDB6A9}"/>
              </a:ext>
            </a:extLst>
          </p:cNvPr>
          <p:cNvSpPr/>
          <p:nvPr/>
        </p:nvSpPr>
        <p:spPr>
          <a:xfrm>
            <a:off x="8054109" y="2366022"/>
            <a:ext cx="659585" cy="355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07B12-33B4-30F7-2464-C398318514DA}"/>
              </a:ext>
            </a:extLst>
          </p:cNvPr>
          <p:cNvSpPr/>
          <p:nvPr/>
        </p:nvSpPr>
        <p:spPr>
          <a:xfrm>
            <a:off x="11353800" y="2366022"/>
            <a:ext cx="630219" cy="355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5171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9C299-2CC3-4D29-305C-3E0245F9B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Labeling and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BF86A-04EB-7ACD-E1FC-7F11B431D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52181" cy="4351338"/>
          </a:xfrm>
        </p:spPr>
        <p:txBody>
          <a:bodyPr>
            <a:normAutofit/>
          </a:bodyPr>
          <a:lstStyle/>
          <a:p>
            <a:r>
              <a:rPr lang="en-IT" sz="2000" dirty="0"/>
              <a:t>Each image has been manually and</a:t>
            </a:r>
          </a:p>
          <a:p>
            <a:pPr marL="0" indent="0">
              <a:buNone/>
            </a:pPr>
            <a:r>
              <a:rPr lang="en-GB" sz="2000" dirty="0"/>
              <a:t>A</a:t>
            </a:r>
            <a:r>
              <a:rPr lang="en-IT" sz="2000" dirty="0"/>
              <a:t>utomatically </a:t>
            </a:r>
            <a:r>
              <a:rPr lang="en-GB" sz="2000" dirty="0"/>
              <a:t>l</a:t>
            </a:r>
            <a:r>
              <a:rPr lang="en-IT" sz="2000" dirty="0"/>
              <a:t>abelled (2 times) using </a:t>
            </a:r>
          </a:p>
          <a:p>
            <a:pPr marL="0" indent="0">
              <a:buNone/>
            </a:pPr>
            <a:r>
              <a:rPr lang="en-IT" sz="2000" dirty="0"/>
              <a:t>the script in the notebook and an automatic</a:t>
            </a:r>
          </a:p>
          <a:p>
            <a:pPr marL="0" indent="0">
              <a:buNone/>
            </a:pPr>
            <a:r>
              <a:rPr lang="en-IT" sz="2000" dirty="0"/>
              <a:t>label in the generation phase</a:t>
            </a:r>
          </a:p>
          <a:p>
            <a:r>
              <a:rPr lang="en-IT" sz="2000" dirty="0"/>
              <a:t>All images have been individually seen and categorized</a:t>
            </a:r>
          </a:p>
          <a:p>
            <a:r>
              <a:rPr lang="en-IT" sz="2000" dirty="0"/>
              <a:t>Model trained in a 50/50, penalty weights </a:t>
            </a:r>
            <a:r>
              <a:rPr lang="en-GB" sz="2000" dirty="0"/>
              <a:t>for each increase of category, L4-L5 </a:t>
            </a:r>
            <a:r>
              <a:rPr lang="en-GB" sz="2000" b="1" dirty="0"/>
              <a:t>heavily </a:t>
            </a:r>
            <a:r>
              <a:rPr lang="en-GB" sz="2000" dirty="0"/>
              <a:t>penalised</a:t>
            </a:r>
            <a:endParaRPr lang="en-IT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920C0F-EF02-C0BE-9092-E2E806D7F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114" y="1"/>
            <a:ext cx="4394886" cy="36795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3FCFEB2-7929-3D90-D45B-3B661AE09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647" y="4103915"/>
            <a:ext cx="7772400" cy="275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55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852AB-D505-2F99-70C0-48302E148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Results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8B27E-676E-CF33-3374-DE2992B2E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deepfake image detector using ResNet-18 trained on 600 images across and 5 sensitivity level. </a:t>
            </a:r>
            <a:r>
              <a:rPr lang="en-IT" dirty="0"/>
              <a:t>A is the model without the sensitivity, B with. 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3C7031-EB22-8E1F-BF71-0F4FD0B0C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690" y="2844800"/>
            <a:ext cx="66548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53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71F93-199F-86BC-F009-2B37436B1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8C15-2595-367A-A536-CB83CE13A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Results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2B135-8379-AFB9-D2F3-2C56E556C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</a:t>
            </a:r>
            <a:r>
              <a:rPr lang="it-IT" dirty="0"/>
              <a:t>and B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in </a:t>
            </a:r>
            <a:r>
              <a:rPr lang="it-IT" dirty="0" err="1"/>
              <a:t>accuracy</a:t>
            </a:r>
            <a:r>
              <a:rPr lang="it-IT" dirty="0"/>
              <a:t> overall, </a:t>
            </a:r>
            <a:r>
              <a:rPr lang="it-IT" dirty="0" err="1"/>
              <a:t>however</a:t>
            </a:r>
            <a:r>
              <a:rPr lang="it-IT" dirty="0"/>
              <a:t> the sensitivity </a:t>
            </a:r>
            <a:r>
              <a:rPr lang="it-IT" dirty="0" err="1"/>
              <a:t>allowed</a:t>
            </a:r>
            <a:r>
              <a:rPr lang="it-IT" dirty="0"/>
              <a:t> for more </a:t>
            </a:r>
            <a:r>
              <a:rPr lang="it-IT" dirty="0" err="1"/>
              <a:t>precision</a:t>
            </a:r>
            <a:r>
              <a:rPr lang="it-IT" dirty="0"/>
              <a:t> in B on </a:t>
            </a:r>
            <a:r>
              <a:rPr lang="it-IT" dirty="0" err="1"/>
              <a:t>higher</a:t>
            </a:r>
            <a:r>
              <a:rPr lang="it-IT" dirty="0"/>
              <a:t> risk </a:t>
            </a:r>
            <a:r>
              <a:rPr lang="it-IT" dirty="0" err="1"/>
              <a:t>category</a:t>
            </a:r>
            <a:r>
              <a:rPr lang="it-IT" dirty="0"/>
              <a:t> </a:t>
            </a:r>
          </a:p>
          <a:p>
            <a:pPr marL="0" indent="0">
              <a:buNone/>
            </a:pPr>
            <a:r>
              <a:rPr lang="it-IT" dirty="0"/>
              <a:t>                                         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better</a:t>
            </a:r>
            <a:r>
              <a:rPr lang="it-IT" dirty="0"/>
              <a:t> in general,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better</a:t>
            </a:r>
            <a:r>
              <a:rPr lang="it-IT" dirty="0"/>
              <a:t> in high risk area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261B2A-1789-D975-7DEB-8A39F6B11B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51626" y="3429000"/>
            <a:ext cx="7888747" cy="2961042"/>
          </a:xfrm>
          <a:prstGeom prst="rect">
            <a:avLst/>
          </a:prstGeom>
        </p:spPr>
      </p:pic>
      <p:sp>
        <p:nvSpPr>
          <p:cNvPr id="4" name="Left-up Arrow 3">
            <a:extLst>
              <a:ext uri="{FF2B5EF4-FFF2-40B4-BE49-F238E27FC236}">
                <a16:creationId xmlns:a16="http://schemas.microsoft.com/office/drawing/2014/main" id="{10FF2E67-F29E-92B8-C9F3-7877A2051E14}"/>
              </a:ext>
            </a:extLst>
          </p:cNvPr>
          <p:cNvSpPr/>
          <p:nvPr/>
        </p:nvSpPr>
        <p:spPr>
          <a:xfrm flipH="1">
            <a:off x="1591235" y="2630277"/>
            <a:ext cx="1679089" cy="548640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36636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1B2B9-3534-701E-0FD0-3DD87DBE3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Conclusion and future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33440-C49C-61B0-2A30-8825A7D15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Sensitivity is not a panacea for solving the deepfake problems, but allows for focus on high risk images and better results in dangerous and riskier fields</a:t>
            </a:r>
          </a:p>
          <a:p>
            <a:r>
              <a:rPr lang="en-IT" dirty="0"/>
              <a:t>More images could obviusly help, but many fields lack (for now) large scale deepfake images</a:t>
            </a:r>
          </a:p>
          <a:p>
            <a:r>
              <a:rPr lang="en-IT" dirty="0"/>
              <a:t>Ideally this could be applied in videos, although audio could be a challenge</a:t>
            </a:r>
          </a:p>
          <a:p>
            <a:pPr marL="0" indent="0">
              <a:buNone/>
            </a:pP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635986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650</Words>
  <Application>Microsoft Macintosh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Project 9: Content-Sensitivity-Aware Deepfake Detection</vt:lpstr>
      <vt:lpstr>Index and preliminary informations</vt:lpstr>
      <vt:lpstr>Level L0: Abstract images </vt:lpstr>
      <vt:lpstr>Level L1: Everyday images </vt:lpstr>
      <vt:lpstr>Level L2: Commercial images </vt:lpstr>
      <vt:lpstr>Level L3: National, Internal Risks</vt:lpstr>
      <vt:lpstr>Level L4/L5: International, military Risks</vt:lpstr>
      <vt:lpstr>Labeling and training</vt:lpstr>
      <vt:lpstr>Results #1</vt:lpstr>
      <vt:lpstr>Results #2</vt:lpstr>
      <vt:lpstr>Conclusion and future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LIVIERO</dc:creator>
  <cp:lastModifiedBy>ANDREA LIVIERO</cp:lastModifiedBy>
  <cp:revision>1</cp:revision>
  <dcterms:created xsi:type="dcterms:W3CDTF">2026-09-07T14:05:32Z</dcterms:created>
  <dcterms:modified xsi:type="dcterms:W3CDTF">2026-09-07T15:44:07Z</dcterms:modified>
</cp:coreProperties>
</file>